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C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D7435"/>
                </a:solidFill>
                <a:latin typeface="Helvetica Neue"/>
              </a:defRPr>
            </a:pPr>
            <a:r>
              <a:t>Esquema por propiedad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2377440" cy="548640"/>
          </a:xfrm>
          <a:prstGeom prst="roundRect">
            <a:avLst/>
          </a:prstGeom>
          <a:solidFill>
            <a:srgbClr val="3D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  <a:latin typeface="Helvetica Neue"/>
              </a:defRPr>
            </a:pPr>
            <a:r>
              <a:t>Propiedad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33832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C5A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3D7435"/>
                </a:solidFill>
                <a:latin typeface="Helvetica Neue"/>
              </a:defRPr>
            </a:pPr>
            <a:r>
              <a:t>Documentos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Compra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Reforma / Docs diseño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Reforma / Docs obra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Reforma / Facturas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Reforma / Registro obra nueva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Venta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194560"/>
            <a:ext cx="33832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C5A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3D7435"/>
                </a:solidFill>
                <a:latin typeface="Helvetica Neue"/>
              </a:defRPr>
            </a:pPr>
            <a:r>
              <a:t>Números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Precio de venta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Costes construcción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Impuestos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Honorarios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Escenarios y cálculo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94560"/>
            <a:ext cx="32004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C5A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3D7435"/>
                </a:solidFill>
                <a:latin typeface="Helvetica Neue"/>
              </a:defRPr>
            </a:pPr>
            <a:r>
              <a:t>Resumen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Índice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Fotos demo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Executive summary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Mapa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Tabla de números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Gráfico cascada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Fechas clave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C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D7435"/>
                </a:solidFill>
                <a:latin typeface="Helvetica Neue"/>
              </a:defRPr>
            </a:pPr>
            <a:r>
              <a:t>Plantillas: Documentos y Números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4937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5A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3D7435"/>
                </a:solidFill>
                <a:latin typeface="Helvetica Neue"/>
              </a:defRPr>
            </a:pPr>
            <a:r>
              <a:t>Documentos</a:t>
            </a:r>
          </a:p>
          <a:p>
            <a:pPr>
              <a:defRPr sz="1800" b="1">
                <a:solidFill>
                  <a:srgbClr val="222222"/>
                </a:solidFill>
                <a:latin typeface="Helvetica Neue"/>
              </a:defRPr>
            </a:pPr>
            <a:r>
              <a:t>Compra</a:t>
            </a:r>
          </a:p>
          <a:p>
            <a:pPr>
              <a:defRPr sz="1400">
                <a:solidFill>
                  <a:srgbClr val="222222"/>
                </a:solidFill>
                <a:latin typeface="Helvetica Neue"/>
              </a:defRPr>
            </a:pPr>
            <a:r>
              <a:t> • Escritura notarial · Registro publico · Arras · Impuestos · Contrato privado · Comentario sobre impuestos ITP/IBA</a:t>
            </a:r>
          </a:p>
          <a:p>
            <a:pPr>
              <a:defRPr sz="1800" b="1">
                <a:solidFill>
                  <a:srgbClr val="222222"/>
                </a:solidFill>
                <a:latin typeface="Helvetica Neue"/>
              </a:defRPr>
            </a:pPr>
            <a:r>
              <a:t>Reforma — Docs diseño</a:t>
            </a:r>
          </a:p>
          <a:p>
            <a:pPr>
              <a:defRPr sz="1400">
                <a:solidFill>
                  <a:srgbClr val="222222"/>
                </a:solidFill>
                <a:latin typeface="Helvetica Neue"/>
              </a:defRPr>
            </a:pPr>
            <a:r>
              <a:t> • Contrato arquitecto · Contrato aparejador · Mapas de nivel · Planos del terreno · Planos arquitecto/de la casa · Licencia obra · Arquitecto · Aparejador</a:t>
            </a:r>
          </a:p>
          <a:p>
            <a:pPr>
              <a:defRPr sz="1800" b="1">
                <a:solidFill>
                  <a:srgbClr val="222222"/>
                </a:solidFill>
                <a:latin typeface="Helvetica Neue"/>
              </a:defRPr>
            </a:pPr>
            <a:r>
              <a:t>Reforma — Docs obra</a:t>
            </a:r>
          </a:p>
          <a:p>
            <a:pPr>
              <a:defRPr sz="1400">
                <a:solidFill>
                  <a:srgbClr val="222222"/>
                </a:solidFill>
                <a:latin typeface="Helvetica Neue"/>
              </a:defRPr>
            </a:pPr>
            <a:r>
              <a:t> • Contrato constructor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645920"/>
            <a:ext cx="5760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5A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3D7435"/>
                </a:solidFill>
                <a:latin typeface="Helvetica Neue"/>
              </a:defRPr>
            </a:pPr>
            <a:r>
              <a:t>Números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Variables clave: Precio de venta · Costes construcción · Impuestos · Honorarios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Qué falta: lista de pendientes para completar</a:t>
            </a:r>
          </a:p>
          <a:p>
            <a:pPr>
              <a:defRPr sz="1600">
                <a:solidFill>
                  <a:srgbClr val="222222"/>
                </a:solidFill>
                <a:latin typeface="Helvetica Neue"/>
              </a:defRPr>
            </a:pPr>
            <a:r>
              <a:t>• Cálculo de totales, escenarios y Excel</a:t>
            </a:r>
          </a:p>
          <a:p>
            <a:pPr>
              <a:defRPr sz="1800" b="1">
                <a:solidFill>
                  <a:srgbClr val="222222"/>
                </a:solidFill>
                <a:latin typeface="Helvetica Neue"/>
              </a:defRPr>
            </a:pPr>
            <a:r>
              <a:t>Documentos (resto de carpetas)</a:t>
            </a:r>
          </a:p>
          <a:p>
            <a:pPr>
              <a:defRPr sz="1600" b="1">
                <a:solidFill>
                  <a:srgbClr val="222222"/>
                </a:solidFill>
                <a:latin typeface="Helvetica Neue"/>
              </a:defRPr>
            </a:pPr>
            <a:r>
              <a:t>Reforma — Docs facturas</a:t>
            </a:r>
          </a:p>
          <a:p>
            <a:pPr>
              <a:defRPr sz="1300">
                <a:solidFill>
                  <a:srgbClr val="222222"/>
                </a:solidFill>
                <a:latin typeface="Helvetica Neue"/>
              </a:defRPr>
            </a:pPr>
            <a:r>
              <a:t> • Factura fontaneria · Factura electricista · Factura calefaccion · Factura carpinteria · Factura diseño</a:t>
            </a:r>
          </a:p>
          <a:p>
            <a:pPr>
              <a:defRPr sz="1600" b="1">
                <a:solidFill>
                  <a:srgbClr val="222222"/>
                </a:solidFill>
                <a:latin typeface="Helvetica Neue"/>
              </a:defRPr>
            </a:pPr>
            <a:r>
              <a:t>Reforma — Docs registro obra nueva</a:t>
            </a:r>
          </a:p>
          <a:p>
            <a:pPr>
              <a:defRPr sz="1300">
                <a:solidFill>
                  <a:srgbClr val="222222"/>
                </a:solidFill>
                <a:latin typeface="Helvetica Neue"/>
              </a:defRPr>
            </a:pPr>
            <a:r>
              <a:t> • Registro documento · Documento de impuestos</a:t>
            </a:r>
          </a:p>
          <a:p>
            <a:pPr>
              <a:defRPr sz="1600" b="1">
                <a:solidFill>
                  <a:srgbClr val="222222"/>
                </a:solidFill>
                <a:latin typeface="Helvetica Neue"/>
              </a:defRPr>
            </a:pPr>
            <a:r>
              <a:t>Venta</a:t>
            </a:r>
          </a:p>
          <a:p>
            <a:pPr>
              <a:defRPr sz="1300">
                <a:solidFill>
                  <a:srgbClr val="222222"/>
                </a:solidFill>
                <a:latin typeface="Helvetica Neue"/>
              </a:defRPr>
            </a:pPr>
            <a:r>
              <a:t> • Certificacion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C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D7435"/>
                </a:solidFill>
                <a:latin typeface="Helvetica Neue"/>
              </a:defRPr>
            </a:pPr>
            <a:r>
              <a:t>Flujo de trabajo</a:t>
            </a:r>
          </a:p>
        </p:txBody>
      </p:sp>
      <p:sp>
        <p:nvSpPr>
          <p:cNvPr id="4" name="Chevron 3"/>
          <p:cNvSpPr/>
          <p:nvPr/>
        </p:nvSpPr>
        <p:spPr>
          <a:xfrm>
            <a:off x="822960" y="2194560"/>
            <a:ext cx="1737360" cy="1097280"/>
          </a:xfrm>
          <a:prstGeom prst="chevron">
            <a:avLst/>
          </a:prstGeom>
          <a:solidFill>
            <a:srgbClr val="3D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Helvetica Neue"/>
              </a:defRPr>
            </a:pPr>
            <a:r>
              <a:t>Crear/Seleccionar</a:t>
            </a:r>
          </a:p>
        </p:txBody>
      </p:sp>
      <p:sp>
        <p:nvSpPr>
          <p:cNvPr id="5" name="Chevron 4"/>
          <p:cNvSpPr/>
          <p:nvPr/>
        </p:nvSpPr>
        <p:spPr>
          <a:xfrm>
            <a:off x="2377440" y="2194560"/>
            <a:ext cx="1737360" cy="1097280"/>
          </a:xfrm>
          <a:prstGeom prst="chevron">
            <a:avLst/>
          </a:prstGeom>
          <a:solidFill>
            <a:srgbClr val="C5A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Helvetica Neue"/>
              </a:defRPr>
            </a:pPr>
            <a:r>
              <a:t>Subir documentos</a:t>
            </a:r>
          </a:p>
        </p:txBody>
      </p:sp>
      <p:sp>
        <p:nvSpPr>
          <p:cNvPr id="6" name="Chevron 5"/>
          <p:cNvSpPr/>
          <p:nvPr/>
        </p:nvSpPr>
        <p:spPr>
          <a:xfrm>
            <a:off x="3931920" y="2194560"/>
            <a:ext cx="1737360" cy="1097280"/>
          </a:xfrm>
          <a:prstGeom prst="chevron">
            <a:avLst/>
          </a:prstGeom>
          <a:solidFill>
            <a:srgbClr val="3D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Helvetica Neue"/>
              </a:defRPr>
            </a:pPr>
            <a:r>
              <a:t>Q&amp;A documentos</a:t>
            </a:r>
          </a:p>
        </p:txBody>
      </p:sp>
      <p:sp>
        <p:nvSpPr>
          <p:cNvPr id="7" name="Chevron 6"/>
          <p:cNvSpPr/>
          <p:nvPr/>
        </p:nvSpPr>
        <p:spPr>
          <a:xfrm>
            <a:off x="5486400" y="2194560"/>
            <a:ext cx="2377440" cy="1097280"/>
          </a:xfrm>
          <a:prstGeom prst="chevron">
            <a:avLst/>
          </a:prstGeom>
          <a:solidFill>
            <a:srgbClr val="C5A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Helvetica Neue"/>
              </a:defRPr>
            </a:pPr>
            <a:r>
              <a:t>Números · Calcular · Excel</a:t>
            </a:r>
          </a:p>
        </p:txBody>
      </p:sp>
      <p:sp>
        <p:nvSpPr>
          <p:cNvPr id="8" name="Chevron 7"/>
          <p:cNvSpPr/>
          <p:nvPr/>
        </p:nvSpPr>
        <p:spPr>
          <a:xfrm>
            <a:off x="7680960" y="2194560"/>
            <a:ext cx="1737360" cy="1097280"/>
          </a:xfrm>
          <a:prstGeom prst="chevron">
            <a:avLst/>
          </a:prstGeom>
          <a:solidFill>
            <a:srgbClr val="3D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Helvetica Neue"/>
              </a:defRPr>
            </a:pPr>
            <a:r>
              <a:t>Resumen PDF/PPT</a:t>
            </a:r>
          </a:p>
        </p:txBody>
      </p:sp>
      <p:sp>
        <p:nvSpPr>
          <p:cNvPr id="9" name="Chevron 8"/>
          <p:cNvSpPr/>
          <p:nvPr/>
        </p:nvSpPr>
        <p:spPr>
          <a:xfrm>
            <a:off x="9235440" y="2194560"/>
            <a:ext cx="1737360" cy="1097280"/>
          </a:xfrm>
          <a:prstGeom prst="chevron">
            <a:avLst/>
          </a:prstGeom>
          <a:solidFill>
            <a:srgbClr val="C5A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Helvetica Neue"/>
              </a:defRPr>
            </a:pPr>
            <a:r>
              <a:t>Compartir por email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